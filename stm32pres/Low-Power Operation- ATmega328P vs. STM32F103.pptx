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701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793304"/>
            <a:ext cx="7772400" cy="933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2"/>
              </a:lnSpc>
              <a:buNone/>
            </a:pPr>
            <a:r>
              <a:rPr lang="en-US" sz="3150" b="1" kern="0" spc="-79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Low-Power Operation:</a:t>
            </a:r>
            <a:endParaRPr lang="en-US" sz="3150" dirty="0"/>
          </a:p>
          <a:p>
            <a:pPr marL="0" indent="0" algn="l">
              <a:lnSpc>
                <a:spcPts val="3402"/>
              </a:lnSpc>
              <a:buNone/>
            </a:pPr>
            <a:r>
              <a:rPr lang="en-US" sz="3150" b="1" kern="0" spc="-79" dirty="0">
                <a:solidFill>
                  <a:srgbClr val="1111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ATmega328P vs. STM32F103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685800" y="4196953"/>
            <a:ext cx="7772400" cy="0"/>
          </a:xfrm>
          <a:prstGeom prst="line">
            <a:avLst/>
          </a:prstGeom>
          <a:noFill/>
          <a:ln w="7144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4329113"/>
            <a:ext cx="6323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81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ATMEGA328P · STM32F103C8T6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949337"/>
            <a:ext cx="8115300" cy="0"/>
          </a:xfrm>
          <a:prstGeom prst="line">
            <a:avLst/>
          </a:prstGeom>
          <a:noFill/>
          <a:ln w="7144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4350" y="571500"/>
            <a:ext cx="8115300" cy="274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18" dirty="0">
                <a:solidFill>
                  <a:srgbClr val="1111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Selected STM32 Device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124359"/>
            <a:ext cx="862965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350" kern="0" spc="-13" dirty="0">
                <a:solidFill>
                  <a:srgbClr val="1111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STM32F103C8T6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3054" y="1643893"/>
            <a:ext cx="8115300" cy="2143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3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10" dirty="0">
                <a:solidFill>
                  <a:srgbClr val="1111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STM32F103C8T6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(“Blue Pill”), STM32F10xxx Performance line, ARM Cortex-M3 core</a:t>
            </a:r>
            <a:endParaRPr lang="en-US" sz="900" dirty="0"/>
          </a:p>
          <a:p>
            <a:pPr marL="0" indent="0" algn="l">
              <a:lnSpc>
                <a:spcPct val="3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Chosen because it’s the standard STM32 counterpart to </a:t>
            </a:r>
            <a:r>
              <a:rPr lang="en-US" sz="810" dirty="0">
                <a:solidFill>
                  <a:srgbClr val="1111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ATmega328P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(Arduino) in coursework</a:t>
            </a:r>
            <a:endParaRPr lang="en-US" sz="900" dirty="0"/>
          </a:p>
          <a:p>
            <a:pPr marL="0" indent="0" algn="l">
              <a:lnSpc>
                <a:spcPct val="3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8-bit AVR (simple sleep state machine) vs. 32-bit Cortex-M3 (dedicated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PWR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peripheral +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NVIC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wake-up)</a:t>
            </a:r>
            <a:endParaRPr lang="en-US" sz="900" dirty="0"/>
          </a:p>
          <a:p>
            <a:pPr marL="0" indent="0" algn="l">
              <a:lnSpc>
                <a:spcPct val="30000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Note: newer STM32L0/L1/L4 add extra modes (Low-power Run, Shutdown) — not covered here; this report follows STM32F1’s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PWR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block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4350" y="4843463"/>
            <a:ext cx="71562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54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01 / 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84889" y="4843463"/>
            <a:ext cx="11710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54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LOW-POWER OPERATION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949337"/>
            <a:ext cx="8115300" cy="0"/>
          </a:xfrm>
          <a:prstGeom prst="line">
            <a:avLst/>
          </a:prstGeom>
          <a:noFill/>
          <a:ln w="7144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4350" y="571500"/>
            <a:ext cx="8225028" cy="27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18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Datasheet / Reference Manual Sources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1124359"/>
          <a:ext cx="8115300" cy="1953581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#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Source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Publisher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RM0008 Reference Manual (STM32F101/102/103/105/107), Rev. 21, 2021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STMicroelectronics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ATmega48A/PA/88A/PA/168A/PA/328/P Datasheet Complete, DS40002061A, 2018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Microchip (Atmel)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J. Yiu, Definitive Guide to ARM Cortex-M3/M4, 3rd ed., Ch. 9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Elsevier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“Definitive guide to ARM Cortex-M0/M0+: Low-power states”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Embedded.com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“AVR Low Power Sleep Modes”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Microchip Developer Help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6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“STM32 Low Power Modes: Sleep, Stop &amp; Standby with HAL”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ControllersTech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14350" y="3305212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URLs in References, end of file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949337"/>
            <a:ext cx="8115300" cy="0"/>
          </a:xfrm>
          <a:prstGeom prst="line">
            <a:avLst/>
          </a:prstGeom>
          <a:noFill/>
          <a:ln w="7144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4350" y="571500"/>
            <a:ext cx="8225028" cy="27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18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Low-Power-Mode Comparison (STM32F103)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1124359"/>
          <a:ext cx="8115300" cy="1116332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Mode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Entry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Retained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Wake latency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Sleep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WFI/WFE, SLEEPDEEP=0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CPU clock off only; peripherals run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Immediate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Stop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WFI/WFE, SLEEPDEEP=1, PDDS=0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SRAM + registers retained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Fast (µs)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Standby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WFI/WFE, SLEEPDEEP=1, PDDS=1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Only RTC/IWDG/backup regs survive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Slow (full reset)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14350" y="2448744"/>
            <a:ext cx="8115300" cy="54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Standby exit only via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NRST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IWDG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reset,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WKUP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pin, or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RTC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alarm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ATmega328P has 6 sleep modes instead of 3 (see Section 10)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949337"/>
            <a:ext cx="8115300" cy="0"/>
          </a:xfrm>
          <a:prstGeom prst="line">
            <a:avLst/>
          </a:prstGeom>
          <a:noFill/>
          <a:ln w="7144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4350" y="571500"/>
            <a:ext cx="8225028" cy="27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18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Power-Control 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14350" y="1377962"/>
            <a:ext cx="3943350" cy="0"/>
          </a:xfrm>
          <a:prstGeom prst="line">
            <a:avLst/>
          </a:prstGeom>
          <a:noFill/>
          <a:ln w="7144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4350" y="1124359"/>
            <a:ext cx="4140518" cy="277749"/>
          </a:xfrm>
          <a:prstGeom prst="rect">
            <a:avLst/>
          </a:prstGeom>
          <a:noFill/>
          <a:ln/>
        </p:spPr>
        <p:txBody>
          <a:bodyPr wrap="none" lIns="0" tIns="0" rIns="0" bIns="5715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111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STM32 — two-tier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514350" y="1467259"/>
            <a:ext cx="3943350" cy="54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level: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SCB-&gt;SCR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picks Sleep vs Deep Sleep, entered via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WFI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WFE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Chip level: ST’s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PWR_CR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decides if “Deep Sleep” = Stop or Standby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86300" y="1377962"/>
            <a:ext cx="3943350" cy="0"/>
          </a:xfrm>
          <a:prstGeom prst="line">
            <a:avLst/>
          </a:prstGeom>
          <a:noFill/>
          <a:ln w="7144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86300" y="1124359"/>
            <a:ext cx="4258818" cy="277749"/>
          </a:xfrm>
          <a:prstGeom prst="rect">
            <a:avLst/>
          </a:prstGeom>
          <a:noFill/>
          <a:ln/>
        </p:spPr>
        <p:txBody>
          <a:bodyPr wrap="square" lIns="0" tIns="0" rIns="0" bIns="5715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111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ATmega328P — single-tier / flat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4686300" y="1467259"/>
            <a:ext cx="3943350" cy="999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instruction + </a:t>
            </a:r>
            <a:r>
              <a:rPr lang="en-US" sz="810" dirty="0">
                <a:solidFill>
                  <a:srgbClr val="1111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SMCR.SM[2:0]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directly gate clock domains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PRR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adds optional per-peripheral clock disable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separate power-domain controller — regulator behavior is fixed in hardware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949337"/>
            <a:ext cx="8115300" cy="0"/>
          </a:xfrm>
          <a:prstGeom prst="line">
            <a:avLst/>
          </a:prstGeom>
          <a:noFill/>
          <a:ln w="7144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4350" y="571500"/>
            <a:ext cx="8115300" cy="274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18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Important Registers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14350" y="1377962"/>
            <a:ext cx="3857625" cy="0"/>
          </a:xfrm>
          <a:prstGeom prst="line">
            <a:avLst/>
          </a:prstGeom>
          <a:noFill/>
          <a:ln w="7144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4350" y="1124359"/>
            <a:ext cx="4937760" cy="277749"/>
          </a:xfrm>
          <a:prstGeom prst="rect">
            <a:avLst/>
          </a:prstGeom>
          <a:noFill/>
          <a:ln/>
        </p:spPr>
        <p:txBody>
          <a:bodyPr wrap="none" lIns="0" tIns="0" rIns="0" bIns="5715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111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STM32F103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514350" y="1467259"/>
            <a:ext cx="3857625" cy="1363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PWR_CR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Stop/Standby select, regulator mode, PVD, flag clear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PWR_CSR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status flags, WKUP pin enable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SCB-&gt;SCR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Sleep/Deep Sleep, Sleep-on-Exit, SEVONPEND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10" dirty="0">
                <a:solidFill>
                  <a:srgbClr val="1111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RCC_APB1ENR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etc. — peripheral clock gating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EXTI_IMR/EMR/RTSR/FTSR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external wake-up lines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72025" y="1377962"/>
            <a:ext cx="3857625" cy="0"/>
          </a:xfrm>
          <a:prstGeom prst="line">
            <a:avLst/>
          </a:prstGeom>
          <a:noFill/>
          <a:ln w="7144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72025" y="1124359"/>
            <a:ext cx="4371975" cy="277749"/>
          </a:xfrm>
          <a:prstGeom prst="rect">
            <a:avLst/>
          </a:prstGeom>
          <a:noFill/>
          <a:ln/>
        </p:spPr>
        <p:txBody>
          <a:bodyPr wrap="none" lIns="0" tIns="0" rIns="0" bIns="5715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111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ATmega328P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4772025" y="1467259"/>
            <a:ext cx="3857625" cy="1363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SMCR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sleep enable + mode select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MCUCR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BODS/BODSE (BOD disable during sleep)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PRR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per-peripheral clock gating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EIMSK/EICRA</a:t>
            </a:r>
            <a:r>
              <a:rPr lang="en-US" sz="900" dirty="0">
                <a:solidFill>
                  <a:srgbClr val="37415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— INT0/INT1 config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10" dirty="0">
                <a:solidFill>
                  <a:srgbClr val="1111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PCICR/PCMSK0-2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pin-change interrupt wake-up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949337"/>
            <a:ext cx="8115300" cy="0"/>
          </a:xfrm>
          <a:prstGeom prst="line">
            <a:avLst/>
          </a:prstGeom>
          <a:noFill/>
          <a:ln w="7144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571500"/>
            <a:ext cx="8115300" cy="274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18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Important Register Bits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9339" y="1181509"/>
            <a:ext cx="407213" cy="139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99339" y="1086179"/>
            <a:ext cx="408561" cy="13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709" kern="0" spc="16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PWR_CR</a:t>
            </a:r>
            <a:endParaRPr lang="en-US" sz="709" dirty="0"/>
          </a:p>
        </p:txBody>
      </p:sp>
      <p:sp>
        <p:nvSpPr>
          <p:cNvPr id="7" name="Text 5"/>
          <p:cNvSpPr/>
          <p:nvPr/>
        </p:nvSpPr>
        <p:spPr>
          <a:xfrm>
            <a:off x="514350" y="1331528"/>
            <a:ext cx="8115300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LPDS</a:t>
            </a:r>
            <a:r>
              <a:rPr lang="en-US" sz="731" dirty="0">
                <a:solidFill>
                  <a:srgbClr val="37415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(0) low-power regulator · </a:t>
            </a:r>
            <a:r>
              <a:rPr lang="en-US" sz="73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PDDS</a:t>
            </a:r>
            <a:r>
              <a:rPr lang="en-US" sz="731" dirty="0">
                <a:solidFill>
                  <a:srgbClr val="37415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(1) Stop/Standby select · </a:t>
            </a:r>
            <a:r>
              <a:rPr lang="en-US" sz="73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CWUF</a:t>
            </a:r>
            <a:r>
              <a:rPr lang="en-US" sz="731" dirty="0">
                <a:solidFill>
                  <a:srgbClr val="37415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(2) clear wake flag · </a:t>
            </a:r>
            <a:r>
              <a:rPr lang="en-US" sz="73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CSBF</a:t>
            </a:r>
            <a:r>
              <a:rPr lang="en-US" sz="731" dirty="0">
                <a:solidFill>
                  <a:srgbClr val="37415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(3) clear standby flag · </a:t>
            </a:r>
            <a:r>
              <a:rPr lang="en-US" sz="73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PVDE</a:t>
            </a:r>
            <a:r>
              <a:rPr lang="en-US" sz="731" dirty="0">
                <a:solidFill>
                  <a:srgbClr val="37415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(4) voltage detector enable · </a:t>
            </a:r>
            <a:r>
              <a:rPr lang="en-US" sz="731" dirty="0">
                <a:solidFill>
                  <a:srgbClr val="1111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PLS[7:5]</a:t>
            </a:r>
            <a:r>
              <a:rPr lang="en-US" sz="731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PVD threshold · </a:t>
            </a:r>
            <a:r>
              <a:rPr lang="en-US" sz="73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DBP</a:t>
            </a:r>
            <a:r>
              <a:rPr lang="en-US" sz="731" dirty="0">
                <a:solidFill>
                  <a:srgbClr val="37415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(8) backup write protect</a:t>
            </a:r>
            <a:endParaRPr lang="en-US" sz="731" dirty="0"/>
          </a:p>
        </p:txBody>
      </p:sp>
      <p:sp>
        <p:nvSpPr>
          <p:cNvPr id="8" name="Shape 6"/>
          <p:cNvSpPr/>
          <p:nvPr/>
        </p:nvSpPr>
        <p:spPr>
          <a:xfrm>
            <a:off x="514350" y="1661480"/>
            <a:ext cx="8115300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9339" y="1654764"/>
            <a:ext cx="45719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7569" y="1751621"/>
            <a:ext cx="474413" cy="13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709" kern="0" spc="16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PWR_CSR</a:t>
            </a:r>
            <a:endParaRPr lang="en-US" sz="709" dirty="0"/>
          </a:p>
        </p:txBody>
      </p:sp>
      <p:sp>
        <p:nvSpPr>
          <p:cNvPr id="11" name="Text 9"/>
          <p:cNvSpPr/>
          <p:nvPr/>
        </p:nvSpPr>
        <p:spPr>
          <a:xfrm>
            <a:off x="514350" y="1989891"/>
            <a:ext cx="8115300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WUF</a:t>
            </a:r>
            <a:r>
              <a:rPr lang="en-US" sz="800" dirty="0">
                <a:solidFill>
                  <a:srgbClr val="37415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(0) wake flag · </a:t>
            </a: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SBF</a:t>
            </a:r>
            <a:r>
              <a:rPr lang="en-US" sz="800" dirty="0">
                <a:solidFill>
                  <a:srgbClr val="37415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(1) standby flag · </a:t>
            </a: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PVDO</a:t>
            </a:r>
            <a:r>
              <a:rPr lang="en-US" sz="800" dirty="0">
                <a:solidFill>
                  <a:srgbClr val="37415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(2) PVD output · </a:t>
            </a: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EWUP</a:t>
            </a:r>
            <a:r>
              <a:rPr lang="en-US" sz="800" dirty="0">
                <a:solidFill>
                  <a:srgbClr val="37415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(8) enable WKUP pin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14350" y="2460136"/>
            <a:ext cx="8115300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9339" y="2155738"/>
            <a:ext cx="407213" cy="139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4887" y="2207070"/>
            <a:ext cx="522209" cy="13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709" kern="0" spc="16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SCB-&gt;SCR</a:t>
            </a:r>
            <a:endParaRPr lang="en-US" sz="709" dirty="0"/>
          </a:p>
        </p:txBody>
      </p:sp>
      <p:sp>
        <p:nvSpPr>
          <p:cNvPr id="15" name="Text 13"/>
          <p:cNvSpPr/>
          <p:nvPr/>
        </p:nvSpPr>
        <p:spPr>
          <a:xfrm>
            <a:off x="499339" y="2610316"/>
            <a:ext cx="8225028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SLEEPONEXIT</a:t>
            </a:r>
            <a:r>
              <a:rPr lang="en-US" sz="800" dirty="0">
                <a:solidFill>
                  <a:srgbClr val="37415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(1) · </a:t>
            </a: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SLEEPDEEP</a:t>
            </a:r>
            <a:r>
              <a:rPr lang="en-US" sz="800" dirty="0">
                <a:solidFill>
                  <a:srgbClr val="37415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(2) · </a:t>
            </a: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SEVONPEND</a:t>
            </a:r>
            <a:r>
              <a:rPr lang="en-US" sz="800" dirty="0">
                <a:solidFill>
                  <a:srgbClr val="37415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(4)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9339" y="2907138"/>
            <a:ext cx="8115300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7673" y="2642853"/>
            <a:ext cx="602404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endParaRPr lang="en-US" sz="619" dirty="0"/>
          </a:p>
        </p:txBody>
      </p:sp>
      <p:sp>
        <p:nvSpPr>
          <p:cNvPr id="18" name="Text 16"/>
          <p:cNvSpPr/>
          <p:nvPr/>
        </p:nvSpPr>
        <p:spPr>
          <a:xfrm>
            <a:off x="513549" y="3320031"/>
            <a:ext cx="332882" cy="13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800" kern="0" spc="16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SMCR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9339" y="3576426"/>
            <a:ext cx="8115300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</a:t>
            </a:r>
            <a:r>
              <a:rPr lang="en-US" sz="800" dirty="0">
                <a:solidFill>
                  <a:srgbClr val="37415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(0) sleep enable · </a:t>
            </a:r>
            <a:r>
              <a:rPr lang="en-US" sz="800" dirty="0">
                <a:solidFill>
                  <a:srgbClr val="1111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SM[3:1]</a:t>
            </a: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mode select — 000 Idle, 001 ADC NR, 010 Power-down, 011 Power-save, 110 Standby, 111 Ext. Standby</a:t>
            </a:r>
            <a:endParaRPr lang="en-US" sz="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585188-E052-0E70-4F26-6365F5357AAD}"/>
              </a:ext>
            </a:extLst>
          </p:cNvPr>
          <p:cNvSpPr txBox="1"/>
          <p:nvPr/>
        </p:nvSpPr>
        <p:spPr>
          <a:xfrm>
            <a:off x="413896" y="3030670"/>
            <a:ext cx="7841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Atmega328p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C3F338-51AB-F683-F951-F73B197CFB00}"/>
              </a:ext>
            </a:extLst>
          </p:cNvPr>
          <p:cNvSpPr txBox="1"/>
          <p:nvPr/>
        </p:nvSpPr>
        <p:spPr>
          <a:xfrm>
            <a:off x="413896" y="907898"/>
            <a:ext cx="5084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STM32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949337"/>
            <a:ext cx="8115300" cy="0"/>
          </a:xfrm>
          <a:prstGeom prst="line">
            <a:avLst/>
          </a:prstGeom>
          <a:noFill/>
          <a:ln w="7144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4350" y="571500"/>
            <a:ext cx="8225028" cy="27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18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WFI / WFE (Cortex-M3 only — no AVR equivalent)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124359"/>
            <a:ext cx="8115300" cy="1544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WFI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halt until any enabled interrupt or debug request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WFE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halt until an event (interrupt, latched event, or any newly-pended interrupt if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SEVONPEND</a:t>
            </a:r>
            <a:r>
              <a:rPr lang="en-US" sz="900" dirty="0">
                <a:solidFill>
                  <a:srgbClr val="37415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=1)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Depth (Sleep vs Deep Sleep) is set by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SLEEPDEEP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not by which instruction is used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ARM recommends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DSB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before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WFI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WFE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for portability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10" dirty="0">
                <a:solidFill>
                  <a:srgbClr val="1111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ATmega328P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single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opcode; mode chosen purely by </a:t>
            </a:r>
            <a:r>
              <a:rPr lang="en-US" sz="810" dirty="0">
                <a:solidFill>
                  <a:srgbClr val="1111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SMCR.SM[2:0]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beforehand — no core/system split because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AVR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has no separate core-level sleep controller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949337"/>
            <a:ext cx="8115300" cy="0"/>
          </a:xfrm>
          <a:prstGeom prst="line">
            <a:avLst/>
          </a:prstGeom>
          <a:noFill/>
          <a:ln w="7144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4350" y="571500"/>
            <a:ext cx="8225028" cy="27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18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Interrupt and Wake-Up Mechanism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14350" y="1377962"/>
            <a:ext cx="3857625" cy="0"/>
          </a:xfrm>
          <a:prstGeom prst="line">
            <a:avLst/>
          </a:prstGeom>
          <a:noFill/>
          <a:ln w="7144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4350" y="1124359"/>
            <a:ext cx="4937760" cy="277749"/>
          </a:xfrm>
          <a:prstGeom prst="rect">
            <a:avLst/>
          </a:prstGeom>
          <a:noFill/>
          <a:ln/>
        </p:spPr>
        <p:txBody>
          <a:bodyPr wrap="none" lIns="0" tIns="0" rIns="0" bIns="5715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111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STM32F103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514350" y="1467259"/>
            <a:ext cx="3857625" cy="1272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Sleep → any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NVIC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interrupt wakes it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Stop → only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EXTI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lines (pins,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RTC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alarm,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PVD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wake it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Standby → only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WKUP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pin,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RTC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alarm,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NRST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IWDG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PWR_CSR.WUF/SBF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flags show wake cause; must clear via 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CWUF/CSBF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before re-entering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72025" y="1377962"/>
            <a:ext cx="3857625" cy="0"/>
          </a:xfrm>
          <a:prstGeom prst="line">
            <a:avLst/>
          </a:prstGeom>
          <a:noFill/>
          <a:ln w="7144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72025" y="1124359"/>
            <a:ext cx="4371975" cy="277749"/>
          </a:xfrm>
          <a:prstGeom prst="rect">
            <a:avLst/>
          </a:prstGeom>
          <a:noFill/>
          <a:ln/>
        </p:spPr>
        <p:txBody>
          <a:bodyPr wrap="none" lIns="0" tIns="0" rIns="0" bIns="5715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111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ATmega328P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4772025" y="1467259"/>
            <a:ext cx="3857625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Idle → any enabled interrupt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Power-down → only async sources: INT0/INT1, PCINT0-23, TWI address match, Watchdog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Power-save → same + Timer2 (async 32.768 kHz crystal)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600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Standby/Ext. Standby → same sources as above, oscillator stays running → ~6-cycle wake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1494" y="2996022"/>
            <a:ext cx="0" cy="444252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7225" y="3067459"/>
            <a:ext cx="797242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DIFFERENCE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57225" y="3213906"/>
            <a:ext cx="7972425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788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STM32 wake sources are largely mode-independent (</a:t>
            </a:r>
            <a:r>
              <a:rPr lang="en-US" sz="788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EXTI</a:t>
            </a:r>
            <a:r>
              <a:rPr lang="en-US" sz="788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r>
              <a:rPr lang="en-US" sz="788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NVIC</a:t>
            </a:r>
            <a:r>
              <a:rPr lang="en-US" sz="788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); ATmega328P wake sources shrink as sleep gets deeper, since clocks are physically gated</a:t>
            </a:r>
            <a:endParaRPr lang="en-US" sz="78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949337"/>
            <a:ext cx="8115300" cy="0"/>
          </a:xfrm>
          <a:prstGeom prst="line">
            <a:avLst/>
          </a:prstGeom>
          <a:noFill/>
          <a:ln w="7144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4350" y="571500"/>
            <a:ext cx="8115300" cy="274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18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Practical Applications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1124359"/>
          <a:ext cx="8115301" cy="1674498"/>
        </p:xfrm>
        <a:graphic>
          <a:graphicData uri="http://schemas.openxmlformats.org/drawingml/2006/table">
            <a:tbl>
              <a:tblPr/>
              <a:tblGrid>
                <a:gridCol w="2759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2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3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Scenario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Best fit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Battery sensor node, periodic wake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ATmega328P (Power-down)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nA–µA range, simple SLEEP+watchdog pattern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IoT/wearable, fast burst processing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STM32 (Stop)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SRAM retained, no re-init needed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Long-life asset tracker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STM32 (Standby) or ATmega (Power-down)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Lowest current draw either way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Peripheral-heavy real-time system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STM32 (Sleep)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Peripherals stay live, fast wake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Educational / hobbyist project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ATmega328P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Simple model, big library base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949337"/>
            <a:ext cx="8115300" cy="0"/>
          </a:xfrm>
          <a:prstGeom prst="line">
            <a:avLst/>
          </a:prstGeom>
          <a:noFill/>
          <a:ln w="7144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4350" y="571500"/>
            <a:ext cx="8225028" cy="27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18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ATmega328P vs STM32 — Key Differences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124359"/>
            <a:ext cx="8115300" cy="999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Font typeface="+mj-lt"/>
              <a:buAutoNum type="arabicPeriod"/>
            </a:pPr>
            <a:r>
              <a:rPr lang="en-US" sz="900" b="1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 granularity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ATmega: 6 fixed modes. STM32: 3 modes, each configurable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buSzPct val="100000"/>
              <a:buFont typeface="+mj-lt"/>
              <a:buAutoNum type="arabicPeriod"/>
            </a:pPr>
            <a:r>
              <a:rPr lang="en-US" sz="900" b="1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r>
              <a:rPr lang="en-US" sz="900" dirty="0">
                <a:solidFill>
                  <a:srgbClr val="37415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— STM32 splits core sleep (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WFI/WFE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from system power domain (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PWR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); ATmega is one flat register (</a:t>
            </a:r>
            <a:r>
              <a:rPr lang="en-US" sz="81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SMCR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buSzPct val="100000"/>
              <a:buFont typeface="+mj-lt"/>
              <a:buAutoNum type="arabicPeriod"/>
            </a:pPr>
            <a:r>
              <a:rPr lang="en-US" sz="900" b="1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State retention</a:t>
            </a: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STM32 Standby loses SRAM (reset reboot); ATmega never loses SRAM even in deepest sleep (clock-gated only) → ATmega's deepest mode behaves more like STM32 Stop than STM32 Standby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949337"/>
            <a:ext cx="8115300" cy="0"/>
          </a:xfrm>
          <a:prstGeom prst="line">
            <a:avLst/>
          </a:prstGeom>
          <a:noFill/>
          <a:ln w="7144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4350" y="571500"/>
            <a:ext cx="8115300" cy="274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18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 Comparison Table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1124359"/>
          <a:ext cx="8115300" cy="2849890"/>
        </p:xfrm>
        <a:graphic>
          <a:graphicData uri="http://schemas.openxmlformats.org/drawingml/2006/table">
            <a:tbl>
              <a:tblPr/>
              <a:tblGrid>
                <a:gridCol w="1785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4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5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Feature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ATmega328P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STM32F103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Sleep modes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6: Idle, ADC NR, Power-down, Power-save, Standby, Ext. Standby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3: Sleep, Stop, Standby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Deepest low-power mode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Power-down — SRAM/regs retained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Standby — 1.8V domain off, SRAM lost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Sleep-control registers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SMCR, MCUCR, PRR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PWR_CR, PWR_CSR, SCB-&gt;SCR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Wake-up sources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INT0/INT1, PCINT0-23, TWI, Watchdog, Timer2 (async)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NVIC (Sleep); EXTI/RTC/PVD (Stop); WKUP/RTC/NRST/IWDG (Standby)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External interrupt wake-up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INT0/INT1 + 24 PCINTs, works even in Power-down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Up to 16 EXTI lines; only WKUP pin works in Standby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Timer operation during sleep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Only Timer2 (async crystal) in Power-save/Ext. Standby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All timers run in Sleep; only RTC/IWDG run in Stop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RTC operation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 dedicated RTC — emulated via Timer2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Dedicated RTC, runs through Stop and Standby, can wake device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RAM retention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Always retained (clock-gating only)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Retained in Sleep/Stop; lost in Standby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Typical applications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Arduino projects, simple sensor nodes, education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IoT/wearables (Stop), asset trackers (Standby+RTC), real-time systems (Sleep)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949337"/>
            <a:ext cx="8115300" cy="0"/>
          </a:xfrm>
          <a:prstGeom prst="line">
            <a:avLst/>
          </a:prstGeom>
          <a:noFill/>
          <a:ln w="7144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4350" y="571500"/>
            <a:ext cx="8115300" cy="274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18" dirty="0">
                <a:solidFill>
                  <a:srgbClr val="11111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124359"/>
            <a:ext cx="8115300" cy="2396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20"/>
              </a:lnSpc>
              <a:buSzPct val="100000"/>
              <a:buFont typeface="+mj-lt"/>
              <a:buAutoNum type="arabicPeriod"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STMicroelectronics, RM0008 Reference Manual, Rev. 21, 2021 —</a:t>
            </a:r>
            <a:endParaRPr lang="en-US" sz="800" dirty="0"/>
          </a:p>
          <a:p>
            <a:pPr marL="0" indent="0" algn="l">
              <a:lnSpc>
                <a:spcPts val="102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https://www.st.com/resource/en/reference_manual/rm0008-stm32f101xx-stm32f102xx-stm32f103xx-stm32f105xx-and-stm32f107xx-advanced-armbased-32bit-mcus-stmicroelectronics.pdf</a:t>
            </a:r>
            <a:endParaRPr lang="en-US" sz="800" dirty="0"/>
          </a:p>
          <a:p>
            <a:pPr marL="342900" indent="-342900" algn="l">
              <a:lnSpc>
                <a:spcPts val="1020"/>
              </a:lnSpc>
              <a:buSzPct val="100000"/>
              <a:buFont typeface="+mj-lt"/>
              <a:buAutoNum type="arabicPeriod"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Microchip Technology Inc., ATmega48A/PA/88A/PA/168A/PA/328/P Datasheet Complete, DS40002061A, 2018 —</a:t>
            </a:r>
            <a:endParaRPr lang="en-US" sz="800" dirty="0"/>
          </a:p>
          <a:p>
            <a:pPr marL="0" indent="0" algn="l">
              <a:lnSpc>
                <a:spcPts val="102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https://ww1.microchip.com/downloads/en/DeviceDoc/ATmega48A-PA-88A-PA-168A-PA-328-P-DS-DS40002061A.pdf</a:t>
            </a:r>
            <a:endParaRPr lang="en-US" sz="800" dirty="0"/>
          </a:p>
          <a:p>
            <a:pPr marL="342900" indent="-342900" algn="l">
              <a:lnSpc>
                <a:spcPts val="1020"/>
              </a:lnSpc>
              <a:buSzPct val="100000"/>
              <a:buFont typeface="+mj-lt"/>
              <a:buAutoNum type="arabicPeriod"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J. Yiu, The Definitive Guide to ARM Cortex-M3 and Cortex-M4 Processors, 3rd ed., Ch. 9, Newnes/Elsevier, 2014</a:t>
            </a:r>
            <a:endParaRPr lang="en-US" sz="800" dirty="0"/>
          </a:p>
          <a:p>
            <a:pPr marL="342900" indent="-342900" algn="l">
              <a:lnSpc>
                <a:spcPts val="1020"/>
              </a:lnSpc>
              <a:buSzPct val="100000"/>
              <a:buFont typeface="+mj-lt"/>
              <a:buAutoNum type="arabicPeriod"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"The definitive guide to ARM Cortex-M0/M0+: Low-power states," Embedded.com —</a:t>
            </a:r>
            <a:endParaRPr lang="en-US" sz="800" dirty="0"/>
          </a:p>
          <a:p>
            <a:pPr marL="0" indent="0" algn="l">
              <a:lnSpc>
                <a:spcPts val="102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https://www.embedded.com/the-definitive-guide-to-arm-cortex-m0-m0-low-power-states/</a:t>
            </a:r>
            <a:endParaRPr lang="en-US" sz="800" dirty="0"/>
          </a:p>
          <a:p>
            <a:pPr marL="342900" indent="-342900" algn="l">
              <a:lnSpc>
                <a:spcPts val="1020"/>
              </a:lnSpc>
              <a:buSzPct val="100000"/>
              <a:buFont typeface="+mj-lt"/>
              <a:buAutoNum type="arabicPeriod"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"AVR Low Power Sleep Modes," Microchip Developer Help —</a:t>
            </a:r>
            <a:endParaRPr lang="en-US" sz="800" dirty="0"/>
          </a:p>
          <a:p>
            <a:pPr marL="0" indent="0" algn="l">
              <a:lnSpc>
                <a:spcPts val="102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https://developerhelp.microchip.com/xwiki/bin/view/products/mcu-mpu/8-bit-avr/structure/sleep/</a:t>
            </a:r>
            <a:endParaRPr lang="en-US" sz="800" dirty="0"/>
          </a:p>
          <a:p>
            <a:pPr marL="342900" indent="-342900" algn="l">
              <a:lnSpc>
                <a:spcPts val="1020"/>
              </a:lnSpc>
              <a:buSzPct val="100000"/>
              <a:buFont typeface="+mj-lt"/>
              <a:buAutoNum type="arabicPeriod"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"STM32 Low Power Modes: Sleep, Stop &amp; Standby with HAL," ControllersTech —</a:t>
            </a:r>
            <a:endParaRPr lang="en-US" sz="800" dirty="0"/>
          </a:p>
          <a:p>
            <a:pPr marL="0" indent="0" algn="l">
              <a:lnSpc>
                <a:spcPts val="102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https://controllerstech.com/low-power-modes-in-stm32/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1496</Words>
  <Application>Microsoft Office PowerPoint</Application>
  <PresentationFormat>On-screen Show (16:9)</PresentationFormat>
  <Paragraphs>183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Carlito</vt:lpstr>
      <vt:lpstr>Courier New</vt:lpstr>
      <vt:lpstr>Liberation Sans Narrow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Creative Knows</cp:lastModifiedBy>
  <cp:revision>2</cp:revision>
  <dcterms:created xsi:type="dcterms:W3CDTF">2026-09-14T11:45:01Z</dcterms:created>
  <dcterms:modified xsi:type="dcterms:W3CDTF">2026-09-14T08:55:12Z</dcterms:modified>
</cp:coreProperties>
</file>